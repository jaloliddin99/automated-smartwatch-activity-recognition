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74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4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0"/>
    <a:srgbClr val="00385F"/>
    <a:srgbClr val="009ED4"/>
    <a:srgbClr val="A78EC2"/>
    <a:srgbClr val="5F5B93"/>
    <a:srgbClr val="030385"/>
    <a:srgbClr val="AF1821"/>
    <a:srgbClr val="611543"/>
    <a:srgbClr val="4095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 autoAdjust="0"/>
    <p:restoredTop sz="81057" autoAdjust="0"/>
  </p:normalViewPr>
  <p:slideViewPr>
    <p:cSldViewPr showGuides="1">
      <p:cViewPr varScale="1">
        <p:scale>
          <a:sx n="94" d="100"/>
          <a:sy n="94" d="100"/>
        </p:scale>
        <p:origin x="2088" y="200"/>
      </p:cViewPr>
      <p:guideLst>
        <p:guide orient="horz" pos="164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63DF5C-B031-49D5-B4A8-D1F5B45B80F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3A1C35F-C90A-44ED-AE48-D94F0B4D4F5C}">
      <dgm:prSet/>
      <dgm:spPr/>
      <dgm:t>
        <a:bodyPr/>
        <a:lstStyle/>
        <a:p>
          <a:r>
            <a:rPr lang="en-US"/>
            <a:t>Smartwatches continuously collect human movement data using sensors.</a:t>
          </a:r>
        </a:p>
      </dgm:t>
    </dgm:pt>
    <dgm:pt modelId="{BD9E0E53-A6D8-46EC-8C76-665BC4E26D91}" type="parTrans" cxnId="{FAF4D256-AD48-4EA8-AD91-629F5605EF28}">
      <dgm:prSet/>
      <dgm:spPr/>
      <dgm:t>
        <a:bodyPr/>
        <a:lstStyle/>
        <a:p>
          <a:endParaRPr lang="en-US"/>
        </a:p>
      </dgm:t>
    </dgm:pt>
    <dgm:pt modelId="{1C18D84B-173E-4581-80DB-C1CC99B86F39}" type="sibTrans" cxnId="{FAF4D256-AD48-4EA8-AD91-629F5605EF28}">
      <dgm:prSet/>
      <dgm:spPr/>
      <dgm:t>
        <a:bodyPr/>
        <a:lstStyle/>
        <a:p>
          <a:endParaRPr lang="en-US"/>
        </a:p>
      </dgm:t>
    </dgm:pt>
    <dgm:pt modelId="{767524EA-CED5-468D-BBDB-FBEA04E79123}">
      <dgm:prSet/>
      <dgm:spPr/>
      <dgm:t>
        <a:bodyPr/>
        <a:lstStyle/>
        <a:p>
          <a:r>
            <a:rPr lang="en-US"/>
            <a:t>This data is usually used only for activity tracking.</a:t>
          </a:r>
        </a:p>
      </dgm:t>
    </dgm:pt>
    <dgm:pt modelId="{00EE6844-0FB9-46FC-92F1-444866D4BFC4}" type="parTrans" cxnId="{335899B5-888C-48BD-95B8-9FB930FF39E7}">
      <dgm:prSet/>
      <dgm:spPr/>
      <dgm:t>
        <a:bodyPr/>
        <a:lstStyle/>
        <a:p>
          <a:endParaRPr lang="en-US"/>
        </a:p>
      </dgm:t>
    </dgm:pt>
    <dgm:pt modelId="{300969CB-C1CA-4653-A610-63F5410B8B48}" type="sibTrans" cxnId="{335899B5-888C-48BD-95B8-9FB930FF39E7}">
      <dgm:prSet/>
      <dgm:spPr/>
      <dgm:t>
        <a:bodyPr/>
        <a:lstStyle/>
        <a:p>
          <a:endParaRPr lang="en-US"/>
        </a:p>
      </dgm:t>
    </dgm:pt>
    <dgm:pt modelId="{CE604F7B-47B3-4FE5-B25B-30AC84350B65}">
      <dgm:prSet/>
      <dgm:spPr/>
      <dgm:t>
        <a:bodyPr/>
        <a:lstStyle/>
        <a:p>
          <a:r>
            <a:rPr lang="en-US"/>
            <a:t>Our project explores how smartwatch motion data can be reproduced physically.</a:t>
          </a:r>
        </a:p>
      </dgm:t>
    </dgm:pt>
    <dgm:pt modelId="{4F51F1DC-CE3F-4349-AB71-9ADE6701171E}" type="parTrans" cxnId="{F98B3A43-9D61-4F1D-8BF0-32F96A69360E}">
      <dgm:prSet/>
      <dgm:spPr/>
      <dgm:t>
        <a:bodyPr/>
        <a:lstStyle/>
        <a:p>
          <a:endParaRPr lang="en-US"/>
        </a:p>
      </dgm:t>
    </dgm:pt>
    <dgm:pt modelId="{93E11698-47A5-42E8-8B3B-E949189DA02F}" type="sibTrans" cxnId="{F98B3A43-9D61-4F1D-8BF0-32F96A69360E}">
      <dgm:prSet/>
      <dgm:spPr/>
      <dgm:t>
        <a:bodyPr/>
        <a:lstStyle/>
        <a:p>
          <a:endParaRPr lang="en-US"/>
        </a:p>
      </dgm:t>
    </dgm:pt>
    <dgm:pt modelId="{74BD5D35-381F-4817-BB94-1CDBE09A3522}">
      <dgm:prSet/>
      <dgm:spPr/>
      <dgm:t>
        <a:bodyPr/>
        <a:lstStyle/>
        <a:p>
          <a:r>
            <a:rPr lang="en-US"/>
            <a:t>We capture motion from a Bangle.js smartwatch and convert it into movement instructions for a 3D printer.</a:t>
          </a:r>
        </a:p>
      </dgm:t>
    </dgm:pt>
    <dgm:pt modelId="{6ED77B75-E3B5-4605-B1D0-6A4EE6FC55A1}" type="parTrans" cxnId="{084A16E7-660D-49A0-B3A7-3A53529EED64}">
      <dgm:prSet/>
      <dgm:spPr/>
      <dgm:t>
        <a:bodyPr/>
        <a:lstStyle/>
        <a:p>
          <a:endParaRPr lang="en-US"/>
        </a:p>
      </dgm:t>
    </dgm:pt>
    <dgm:pt modelId="{5B99E3EC-BEAE-4CC7-AC80-EF3ED6D51E3C}" type="sibTrans" cxnId="{084A16E7-660D-49A0-B3A7-3A53529EED64}">
      <dgm:prSet/>
      <dgm:spPr/>
      <dgm:t>
        <a:bodyPr/>
        <a:lstStyle/>
        <a:p>
          <a:endParaRPr lang="en-US"/>
        </a:p>
      </dgm:t>
    </dgm:pt>
    <dgm:pt modelId="{D1C553B7-DC7A-344D-A9E1-D2802369230D}" type="pres">
      <dgm:prSet presAssocID="{FF63DF5C-B031-49D5-B4A8-D1F5B45B80F8}" presName="outerComposite" presStyleCnt="0">
        <dgm:presLayoutVars>
          <dgm:chMax val="5"/>
          <dgm:dir/>
          <dgm:resizeHandles val="exact"/>
        </dgm:presLayoutVars>
      </dgm:prSet>
      <dgm:spPr/>
    </dgm:pt>
    <dgm:pt modelId="{B0AEE4D1-47DA-D44D-8C97-724345BFB34A}" type="pres">
      <dgm:prSet presAssocID="{FF63DF5C-B031-49D5-B4A8-D1F5B45B80F8}" presName="dummyMaxCanvas" presStyleCnt="0">
        <dgm:presLayoutVars/>
      </dgm:prSet>
      <dgm:spPr/>
    </dgm:pt>
    <dgm:pt modelId="{2FC30767-AE6E-0740-9324-FA3A8B817C6E}" type="pres">
      <dgm:prSet presAssocID="{FF63DF5C-B031-49D5-B4A8-D1F5B45B80F8}" presName="FourNodes_1" presStyleLbl="node1" presStyleIdx="0" presStyleCnt="4">
        <dgm:presLayoutVars>
          <dgm:bulletEnabled val="1"/>
        </dgm:presLayoutVars>
      </dgm:prSet>
      <dgm:spPr/>
    </dgm:pt>
    <dgm:pt modelId="{9C5BEC8D-109E-924C-B4B4-73CF46A2B24D}" type="pres">
      <dgm:prSet presAssocID="{FF63DF5C-B031-49D5-B4A8-D1F5B45B80F8}" presName="FourNodes_2" presStyleLbl="node1" presStyleIdx="1" presStyleCnt="4">
        <dgm:presLayoutVars>
          <dgm:bulletEnabled val="1"/>
        </dgm:presLayoutVars>
      </dgm:prSet>
      <dgm:spPr/>
    </dgm:pt>
    <dgm:pt modelId="{95E26694-0EB7-4F44-B7AB-EE7FFDCA9EAE}" type="pres">
      <dgm:prSet presAssocID="{FF63DF5C-B031-49D5-B4A8-D1F5B45B80F8}" presName="FourNodes_3" presStyleLbl="node1" presStyleIdx="2" presStyleCnt="4">
        <dgm:presLayoutVars>
          <dgm:bulletEnabled val="1"/>
        </dgm:presLayoutVars>
      </dgm:prSet>
      <dgm:spPr/>
    </dgm:pt>
    <dgm:pt modelId="{AE6D7295-D651-FE41-BFDC-F0B989B0D9A4}" type="pres">
      <dgm:prSet presAssocID="{FF63DF5C-B031-49D5-B4A8-D1F5B45B80F8}" presName="FourNodes_4" presStyleLbl="node1" presStyleIdx="3" presStyleCnt="4">
        <dgm:presLayoutVars>
          <dgm:bulletEnabled val="1"/>
        </dgm:presLayoutVars>
      </dgm:prSet>
      <dgm:spPr/>
    </dgm:pt>
    <dgm:pt modelId="{471C4723-1A85-0846-888E-F3C69F4CC878}" type="pres">
      <dgm:prSet presAssocID="{FF63DF5C-B031-49D5-B4A8-D1F5B45B80F8}" presName="FourConn_1-2" presStyleLbl="fgAccFollowNode1" presStyleIdx="0" presStyleCnt="3">
        <dgm:presLayoutVars>
          <dgm:bulletEnabled val="1"/>
        </dgm:presLayoutVars>
      </dgm:prSet>
      <dgm:spPr/>
    </dgm:pt>
    <dgm:pt modelId="{58A42216-20CD-3A4E-A634-1BC15DB79FFE}" type="pres">
      <dgm:prSet presAssocID="{FF63DF5C-B031-49D5-B4A8-D1F5B45B80F8}" presName="FourConn_2-3" presStyleLbl="fgAccFollowNode1" presStyleIdx="1" presStyleCnt="3">
        <dgm:presLayoutVars>
          <dgm:bulletEnabled val="1"/>
        </dgm:presLayoutVars>
      </dgm:prSet>
      <dgm:spPr/>
    </dgm:pt>
    <dgm:pt modelId="{04F294D3-3616-9348-9DDC-5C59ACD1D7D2}" type="pres">
      <dgm:prSet presAssocID="{FF63DF5C-B031-49D5-B4A8-D1F5B45B80F8}" presName="FourConn_3-4" presStyleLbl="fgAccFollowNode1" presStyleIdx="2" presStyleCnt="3">
        <dgm:presLayoutVars>
          <dgm:bulletEnabled val="1"/>
        </dgm:presLayoutVars>
      </dgm:prSet>
      <dgm:spPr/>
    </dgm:pt>
    <dgm:pt modelId="{816EF700-6FF5-4F42-B059-4AA6250048C2}" type="pres">
      <dgm:prSet presAssocID="{FF63DF5C-B031-49D5-B4A8-D1F5B45B80F8}" presName="FourNodes_1_text" presStyleLbl="node1" presStyleIdx="3" presStyleCnt="4">
        <dgm:presLayoutVars>
          <dgm:bulletEnabled val="1"/>
        </dgm:presLayoutVars>
      </dgm:prSet>
      <dgm:spPr/>
    </dgm:pt>
    <dgm:pt modelId="{59EBC262-8463-A449-9A6F-7873F74C8FE9}" type="pres">
      <dgm:prSet presAssocID="{FF63DF5C-B031-49D5-B4A8-D1F5B45B80F8}" presName="FourNodes_2_text" presStyleLbl="node1" presStyleIdx="3" presStyleCnt="4">
        <dgm:presLayoutVars>
          <dgm:bulletEnabled val="1"/>
        </dgm:presLayoutVars>
      </dgm:prSet>
      <dgm:spPr/>
    </dgm:pt>
    <dgm:pt modelId="{7036890C-C033-4C43-90C2-25E1001CC8A9}" type="pres">
      <dgm:prSet presAssocID="{FF63DF5C-B031-49D5-B4A8-D1F5B45B80F8}" presName="FourNodes_3_text" presStyleLbl="node1" presStyleIdx="3" presStyleCnt="4">
        <dgm:presLayoutVars>
          <dgm:bulletEnabled val="1"/>
        </dgm:presLayoutVars>
      </dgm:prSet>
      <dgm:spPr/>
    </dgm:pt>
    <dgm:pt modelId="{B3C37143-D1FC-7847-8385-DA659B4D8752}" type="pres">
      <dgm:prSet presAssocID="{FF63DF5C-B031-49D5-B4A8-D1F5B45B80F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A755702-32DD-2E43-B316-F52B0F829C35}" type="presOf" srcId="{93E11698-47A5-42E8-8B3B-E949189DA02F}" destId="{04F294D3-3616-9348-9DDC-5C59ACD1D7D2}" srcOrd="0" destOrd="0" presId="urn:microsoft.com/office/officeart/2005/8/layout/vProcess5"/>
    <dgm:cxn modelId="{BDFFDC24-749A-354B-879E-DAFC9025BAFF}" type="presOf" srcId="{FF63DF5C-B031-49D5-B4A8-D1F5B45B80F8}" destId="{D1C553B7-DC7A-344D-A9E1-D2802369230D}" srcOrd="0" destOrd="0" presId="urn:microsoft.com/office/officeart/2005/8/layout/vProcess5"/>
    <dgm:cxn modelId="{F98B3A43-9D61-4F1D-8BF0-32F96A69360E}" srcId="{FF63DF5C-B031-49D5-B4A8-D1F5B45B80F8}" destId="{CE604F7B-47B3-4FE5-B25B-30AC84350B65}" srcOrd="2" destOrd="0" parTransId="{4F51F1DC-CE3F-4349-AB71-9ADE6701171E}" sibTransId="{93E11698-47A5-42E8-8B3B-E949189DA02F}"/>
    <dgm:cxn modelId="{211F1050-43E9-D549-BE51-4BD1F34C754B}" type="presOf" srcId="{CE604F7B-47B3-4FE5-B25B-30AC84350B65}" destId="{7036890C-C033-4C43-90C2-25E1001CC8A9}" srcOrd="1" destOrd="0" presId="urn:microsoft.com/office/officeart/2005/8/layout/vProcess5"/>
    <dgm:cxn modelId="{FAF4D256-AD48-4EA8-AD91-629F5605EF28}" srcId="{FF63DF5C-B031-49D5-B4A8-D1F5B45B80F8}" destId="{23A1C35F-C90A-44ED-AE48-D94F0B4D4F5C}" srcOrd="0" destOrd="0" parTransId="{BD9E0E53-A6D8-46EC-8C76-665BC4E26D91}" sibTransId="{1C18D84B-173E-4581-80DB-C1CC99B86F39}"/>
    <dgm:cxn modelId="{498AF562-E693-6944-8237-3AD8CCC071EB}" type="presOf" srcId="{23A1C35F-C90A-44ED-AE48-D94F0B4D4F5C}" destId="{816EF700-6FF5-4F42-B059-4AA6250048C2}" srcOrd="1" destOrd="0" presId="urn:microsoft.com/office/officeart/2005/8/layout/vProcess5"/>
    <dgm:cxn modelId="{15B68D6C-FABD-7E4A-91AE-3EA4AB8B36AC}" type="presOf" srcId="{767524EA-CED5-468D-BBDB-FBEA04E79123}" destId="{59EBC262-8463-A449-9A6F-7873F74C8FE9}" srcOrd="1" destOrd="0" presId="urn:microsoft.com/office/officeart/2005/8/layout/vProcess5"/>
    <dgm:cxn modelId="{3701C870-7E9D-F947-B912-4668286CF7EE}" type="presOf" srcId="{23A1C35F-C90A-44ED-AE48-D94F0B4D4F5C}" destId="{2FC30767-AE6E-0740-9324-FA3A8B817C6E}" srcOrd="0" destOrd="0" presId="urn:microsoft.com/office/officeart/2005/8/layout/vProcess5"/>
    <dgm:cxn modelId="{CF676B7C-60F2-9E48-95C8-EEEE375B4C5C}" type="presOf" srcId="{CE604F7B-47B3-4FE5-B25B-30AC84350B65}" destId="{95E26694-0EB7-4F44-B7AB-EE7FFDCA9EAE}" srcOrd="0" destOrd="0" presId="urn:microsoft.com/office/officeart/2005/8/layout/vProcess5"/>
    <dgm:cxn modelId="{6905CDA3-D3DB-5749-9B13-FFFBE9C4B325}" type="presOf" srcId="{1C18D84B-173E-4581-80DB-C1CC99B86F39}" destId="{471C4723-1A85-0846-888E-F3C69F4CC878}" srcOrd="0" destOrd="0" presId="urn:microsoft.com/office/officeart/2005/8/layout/vProcess5"/>
    <dgm:cxn modelId="{AB87DFAB-C050-CC45-B19A-7C91CECD0CB8}" type="presOf" srcId="{74BD5D35-381F-4817-BB94-1CDBE09A3522}" destId="{AE6D7295-D651-FE41-BFDC-F0B989B0D9A4}" srcOrd="0" destOrd="0" presId="urn:microsoft.com/office/officeart/2005/8/layout/vProcess5"/>
    <dgm:cxn modelId="{335899B5-888C-48BD-95B8-9FB930FF39E7}" srcId="{FF63DF5C-B031-49D5-B4A8-D1F5B45B80F8}" destId="{767524EA-CED5-468D-BBDB-FBEA04E79123}" srcOrd="1" destOrd="0" parTransId="{00EE6844-0FB9-46FC-92F1-444866D4BFC4}" sibTransId="{300969CB-C1CA-4653-A610-63F5410B8B48}"/>
    <dgm:cxn modelId="{1097F8BA-FF7E-4848-A860-E4C45D66A717}" type="presOf" srcId="{74BD5D35-381F-4817-BB94-1CDBE09A3522}" destId="{B3C37143-D1FC-7847-8385-DA659B4D8752}" srcOrd="1" destOrd="0" presId="urn:microsoft.com/office/officeart/2005/8/layout/vProcess5"/>
    <dgm:cxn modelId="{D62C74C4-D228-B348-9921-320350FCEF2A}" type="presOf" srcId="{767524EA-CED5-468D-BBDB-FBEA04E79123}" destId="{9C5BEC8D-109E-924C-B4B4-73CF46A2B24D}" srcOrd="0" destOrd="0" presId="urn:microsoft.com/office/officeart/2005/8/layout/vProcess5"/>
    <dgm:cxn modelId="{8517C6C8-FF6D-3042-A779-FE67E7B1DE6B}" type="presOf" srcId="{300969CB-C1CA-4653-A610-63F5410B8B48}" destId="{58A42216-20CD-3A4E-A634-1BC15DB79FFE}" srcOrd="0" destOrd="0" presId="urn:microsoft.com/office/officeart/2005/8/layout/vProcess5"/>
    <dgm:cxn modelId="{084A16E7-660D-49A0-B3A7-3A53529EED64}" srcId="{FF63DF5C-B031-49D5-B4A8-D1F5B45B80F8}" destId="{74BD5D35-381F-4817-BB94-1CDBE09A3522}" srcOrd="3" destOrd="0" parTransId="{6ED77B75-E3B5-4605-B1D0-6A4EE6FC55A1}" sibTransId="{5B99E3EC-BEAE-4CC7-AC80-EF3ED6D51E3C}"/>
    <dgm:cxn modelId="{D4099672-709E-AC40-939A-383826EF7268}" type="presParOf" srcId="{D1C553B7-DC7A-344D-A9E1-D2802369230D}" destId="{B0AEE4D1-47DA-D44D-8C97-724345BFB34A}" srcOrd="0" destOrd="0" presId="urn:microsoft.com/office/officeart/2005/8/layout/vProcess5"/>
    <dgm:cxn modelId="{23F0B3E8-F0AC-E443-92A6-8157AC271964}" type="presParOf" srcId="{D1C553B7-DC7A-344D-A9E1-D2802369230D}" destId="{2FC30767-AE6E-0740-9324-FA3A8B817C6E}" srcOrd="1" destOrd="0" presId="urn:microsoft.com/office/officeart/2005/8/layout/vProcess5"/>
    <dgm:cxn modelId="{0DD221A8-3266-6741-B167-0427BF96F1BE}" type="presParOf" srcId="{D1C553B7-DC7A-344D-A9E1-D2802369230D}" destId="{9C5BEC8D-109E-924C-B4B4-73CF46A2B24D}" srcOrd="2" destOrd="0" presId="urn:microsoft.com/office/officeart/2005/8/layout/vProcess5"/>
    <dgm:cxn modelId="{E8542C0A-B683-EA4D-B979-5DE76F21F976}" type="presParOf" srcId="{D1C553B7-DC7A-344D-A9E1-D2802369230D}" destId="{95E26694-0EB7-4F44-B7AB-EE7FFDCA9EAE}" srcOrd="3" destOrd="0" presId="urn:microsoft.com/office/officeart/2005/8/layout/vProcess5"/>
    <dgm:cxn modelId="{8A4F2BFE-BEE7-AF4A-9E06-780D98538FD9}" type="presParOf" srcId="{D1C553B7-DC7A-344D-A9E1-D2802369230D}" destId="{AE6D7295-D651-FE41-BFDC-F0B989B0D9A4}" srcOrd="4" destOrd="0" presId="urn:microsoft.com/office/officeart/2005/8/layout/vProcess5"/>
    <dgm:cxn modelId="{49B9CA35-C362-0B4E-8BE0-78E709720D5E}" type="presParOf" srcId="{D1C553B7-DC7A-344D-A9E1-D2802369230D}" destId="{471C4723-1A85-0846-888E-F3C69F4CC878}" srcOrd="5" destOrd="0" presId="urn:microsoft.com/office/officeart/2005/8/layout/vProcess5"/>
    <dgm:cxn modelId="{AC10EAE7-B57C-D94C-8D2D-70E0B01C00C5}" type="presParOf" srcId="{D1C553B7-DC7A-344D-A9E1-D2802369230D}" destId="{58A42216-20CD-3A4E-A634-1BC15DB79FFE}" srcOrd="6" destOrd="0" presId="urn:microsoft.com/office/officeart/2005/8/layout/vProcess5"/>
    <dgm:cxn modelId="{3A3B44D4-42E5-4C46-8193-CD14432E8586}" type="presParOf" srcId="{D1C553B7-DC7A-344D-A9E1-D2802369230D}" destId="{04F294D3-3616-9348-9DDC-5C59ACD1D7D2}" srcOrd="7" destOrd="0" presId="urn:microsoft.com/office/officeart/2005/8/layout/vProcess5"/>
    <dgm:cxn modelId="{5380B870-ABDC-654A-89C4-8936E237D65D}" type="presParOf" srcId="{D1C553B7-DC7A-344D-A9E1-D2802369230D}" destId="{816EF700-6FF5-4F42-B059-4AA6250048C2}" srcOrd="8" destOrd="0" presId="urn:microsoft.com/office/officeart/2005/8/layout/vProcess5"/>
    <dgm:cxn modelId="{B3CAAC58-036B-F74F-9BBD-C3051FBC574C}" type="presParOf" srcId="{D1C553B7-DC7A-344D-A9E1-D2802369230D}" destId="{59EBC262-8463-A449-9A6F-7873F74C8FE9}" srcOrd="9" destOrd="0" presId="urn:microsoft.com/office/officeart/2005/8/layout/vProcess5"/>
    <dgm:cxn modelId="{40B95FC3-6D58-8F47-89C7-54B09078597E}" type="presParOf" srcId="{D1C553B7-DC7A-344D-A9E1-D2802369230D}" destId="{7036890C-C033-4C43-90C2-25E1001CC8A9}" srcOrd="10" destOrd="0" presId="urn:microsoft.com/office/officeart/2005/8/layout/vProcess5"/>
    <dgm:cxn modelId="{6AFF3A8D-45EB-854A-9D73-F2BBDE1091A6}" type="presParOf" srcId="{D1C553B7-DC7A-344D-A9E1-D2802369230D}" destId="{B3C37143-D1FC-7847-8385-DA659B4D875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71B3F4-50CD-4EE8-A572-93D2798B2FA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EE280F4-081C-48F6-BA55-A5D3E5C4EAC2}">
      <dgm:prSet/>
      <dgm:spPr/>
      <dgm:t>
        <a:bodyPr/>
        <a:lstStyle/>
        <a:p>
          <a:r>
            <a:rPr lang="en-US" b="1"/>
            <a:t>Components:</a:t>
          </a:r>
          <a:endParaRPr lang="en-US"/>
        </a:p>
      </dgm:t>
    </dgm:pt>
    <dgm:pt modelId="{336CB95F-1F94-4688-AEBE-AF67B6C378EB}" type="parTrans" cxnId="{04EDC045-8926-4A03-B415-22125A698F39}">
      <dgm:prSet/>
      <dgm:spPr/>
      <dgm:t>
        <a:bodyPr/>
        <a:lstStyle/>
        <a:p>
          <a:endParaRPr lang="en-US"/>
        </a:p>
      </dgm:t>
    </dgm:pt>
    <dgm:pt modelId="{C3F045F1-C2CA-4B54-850E-0132C4CFB610}" type="sibTrans" cxnId="{04EDC045-8926-4A03-B415-22125A698F39}">
      <dgm:prSet/>
      <dgm:spPr/>
      <dgm:t>
        <a:bodyPr/>
        <a:lstStyle/>
        <a:p>
          <a:endParaRPr lang="en-US"/>
        </a:p>
      </dgm:t>
    </dgm:pt>
    <dgm:pt modelId="{19CEBE57-47C9-427E-AE3E-6AA73EA7521E}">
      <dgm:prSet/>
      <dgm:spPr/>
      <dgm:t>
        <a:bodyPr/>
        <a:lstStyle/>
        <a:p>
          <a:r>
            <a:rPr lang="en-US"/>
            <a:t>Bangle.js 2</a:t>
          </a:r>
        </a:p>
      </dgm:t>
    </dgm:pt>
    <dgm:pt modelId="{9A55BA19-7D9E-4BA9-8F96-B69D8A421309}" type="parTrans" cxnId="{CB2BD40C-9CFC-46C8-AB4D-9C64897E7CD2}">
      <dgm:prSet/>
      <dgm:spPr/>
      <dgm:t>
        <a:bodyPr/>
        <a:lstStyle/>
        <a:p>
          <a:endParaRPr lang="en-US"/>
        </a:p>
      </dgm:t>
    </dgm:pt>
    <dgm:pt modelId="{0E23F02F-D1A0-46CA-9F0A-AC6F5249C3B8}" type="sibTrans" cxnId="{CB2BD40C-9CFC-46C8-AB4D-9C64897E7CD2}">
      <dgm:prSet/>
      <dgm:spPr/>
      <dgm:t>
        <a:bodyPr/>
        <a:lstStyle/>
        <a:p>
          <a:endParaRPr lang="en-US"/>
        </a:p>
      </dgm:t>
    </dgm:pt>
    <dgm:pt modelId="{8EA0CAAC-20EB-4A18-BE4E-8C16590BF561}">
      <dgm:prSet/>
      <dgm:spPr/>
      <dgm:t>
        <a:bodyPr/>
        <a:lstStyle/>
        <a:p>
          <a:r>
            <a:rPr lang="en-US"/>
            <a:t>Web Bluetooth API</a:t>
          </a:r>
        </a:p>
      </dgm:t>
    </dgm:pt>
    <dgm:pt modelId="{6B82A348-42D0-4F1F-808F-5974B7EAA3B7}" type="parTrans" cxnId="{6AC0D505-C48C-476E-AFF6-DE604D7F2258}">
      <dgm:prSet/>
      <dgm:spPr/>
      <dgm:t>
        <a:bodyPr/>
        <a:lstStyle/>
        <a:p>
          <a:endParaRPr lang="en-US"/>
        </a:p>
      </dgm:t>
    </dgm:pt>
    <dgm:pt modelId="{120131B5-E4D5-45C0-A694-47AEF9BAF4B8}" type="sibTrans" cxnId="{6AC0D505-C48C-476E-AFF6-DE604D7F2258}">
      <dgm:prSet/>
      <dgm:spPr/>
      <dgm:t>
        <a:bodyPr/>
        <a:lstStyle/>
        <a:p>
          <a:endParaRPr lang="en-US"/>
        </a:p>
      </dgm:t>
    </dgm:pt>
    <dgm:pt modelId="{97E0D355-6B94-4EB0-B01F-13238105B096}">
      <dgm:prSet/>
      <dgm:spPr/>
      <dgm:t>
        <a:bodyPr/>
        <a:lstStyle/>
        <a:p>
          <a:r>
            <a:rPr lang="en-US"/>
            <a:t>JavaScript</a:t>
          </a:r>
        </a:p>
      </dgm:t>
    </dgm:pt>
    <dgm:pt modelId="{C4459486-4739-4C39-BF61-282A5D65AE92}" type="parTrans" cxnId="{2F98CDED-7AE8-4CFE-894F-2F1FDD003C80}">
      <dgm:prSet/>
      <dgm:spPr/>
      <dgm:t>
        <a:bodyPr/>
        <a:lstStyle/>
        <a:p>
          <a:endParaRPr lang="en-US"/>
        </a:p>
      </dgm:t>
    </dgm:pt>
    <dgm:pt modelId="{06CA5535-C86A-43EA-B105-3A19144ED58B}" type="sibTrans" cxnId="{2F98CDED-7AE8-4CFE-894F-2F1FDD003C80}">
      <dgm:prSet/>
      <dgm:spPr/>
      <dgm:t>
        <a:bodyPr/>
        <a:lstStyle/>
        <a:p>
          <a:endParaRPr lang="en-US"/>
        </a:p>
      </dgm:t>
    </dgm:pt>
    <dgm:pt modelId="{295CAD99-A41C-4A0E-A271-F61BE04C62B4}">
      <dgm:prSet/>
      <dgm:spPr/>
      <dgm:t>
        <a:bodyPr/>
        <a:lstStyle/>
        <a:p>
          <a:r>
            <a:rPr lang="en-US"/>
            <a:t>Ultimaker 2+</a:t>
          </a:r>
        </a:p>
      </dgm:t>
    </dgm:pt>
    <dgm:pt modelId="{D1FC68D1-0F94-4B11-A366-AD10D4BB57CD}" type="parTrans" cxnId="{2BE951AC-29A5-4D7B-A7FD-5085B5A62F1F}">
      <dgm:prSet/>
      <dgm:spPr/>
      <dgm:t>
        <a:bodyPr/>
        <a:lstStyle/>
        <a:p>
          <a:endParaRPr lang="en-US"/>
        </a:p>
      </dgm:t>
    </dgm:pt>
    <dgm:pt modelId="{2DE6ADA0-223C-4180-9D0D-5B6974DDD1B4}" type="sibTrans" cxnId="{2BE951AC-29A5-4D7B-A7FD-5085B5A62F1F}">
      <dgm:prSet/>
      <dgm:spPr/>
      <dgm:t>
        <a:bodyPr/>
        <a:lstStyle/>
        <a:p>
          <a:endParaRPr lang="en-US"/>
        </a:p>
      </dgm:t>
    </dgm:pt>
    <dgm:pt modelId="{FEDEA1B2-A5EE-EC4E-A00B-F35D149157C4}" type="pres">
      <dgm:prSet presAssocID="{E771B3F4-50CD-4EE8-A572-93D2798B2FA6}" presName="diagram" presStyleCnt="0">
        <dgm:presLayoutVars>
          <dgm:dir/>
          <dgm:resizeHandles val="exact"/>
        </dgm:presLayoutVars>
      </dgm:prSet>
      <dgm:spPr/>
    </dgm:pt>
    <dgm:pt modelId="{8CB6EC9A-29E0-1147-8A46-A58CA4809190}" type="pres">
      <dgm:prSet presAssocID="{2EE280F4-081C-48F6-BA55-A5D3E5C4EAC2}" presName="node" presStyleLbl="node1" presStyleIdx="0" presStyleCnt="1">
        <dgm:presLayoutVars>
          <dgm:bulletEnabled val="1"/>
        </dgm:presLayoutVars>
      </dgm:prSet>
      <dgm:spPr/>
    </dgm:pt>
  </dgm:ptLst>
  <dgm:cxnLst>
    <dgm:cxn modelId="{6AC0D505-C48C-476E-AFF6-DE604D7F2258}" srcId="{2EE280F4-081C-48F6-BA55-A5D3E5C4EAC2}" destId="{8EA0CAAC-20EB-4A18-BE4E-8C16590BF561}" srcOrd="1" destOrd="0" parTransId="{6B82A348-42D0-4F1F-808F-5974B7EAA3B7}" sibTransId="{120131B5-E4D5-45C0-A694-47AEF9BAF4B8}"/>
    <dgm:cxn modelId="{F2715409-2C75-614F-A1BF-47A3D74276BA}" type="presOf" srcId="{E771B3F4-50CD-4EE8-A572-93D2798B2FA6}" destId="{FEDEA1B2-A5EE-EC4E-A00B-F35D149157C4}" srcOrd="0" destOrd="0" presId="urn:microsoft.com/office/officeart/2005/8/layout/default"/>
    <dgm:cxn modelId="{CB2BD40C-9CFC-46C8-AB4D-9C64897E7CD2}" srcId="{2EE280F4-081C-48F6-BA55-A5D3E5C4EAC2}" destId="{19CEBE57-47C9-427E-AE3E-6AA73EA7521E}" srcOrd="0" destOrd="0" parTransId="{9A55BA19-7D9E-4BA9-8F96-B69D8A421309}" sibTransId="{0E23F02F-D1A0-46CA-9F0A-AC6F5249C3B8}"/>
    <dgm:cxn modelId="{3602A715-5EDD-3B43-9E9E-7D89DE7CE73B}" type="presOf" srcId="{2EE280F4-081C-48F6-BA55-A5D3E5C4EAC2}" destId="{8CB6EC9A-29E0-1147-8A46-A58CA4809190}" srcOrd="0" destOrd="0" presId="urn:microsoft.com/office/officeart/2005/8/layout/default"/>
    <dgm:cxn modelId="{4B649A40-3E75-5F41-9CE6-B4BDC41AA01A}" type="presOf" srcId="{97E0D355-6B94-4EB0-B01F-13238105B096}" destId="{8CB6EC9A-29E0-1147-8A46-A58CA4809190}" srcOrd="0" destOrd="3" presId="urn:microsoft.com/office/officeart/2005/8/layout/default"/>
    <dgm:cxn modelId="{7EA0E540-E249-8642-84A0-9F5380DE531E}" type="presOf" srcId="{295CAD99-A41C-4A0E-A271-F61BE04C62B4}" destId="{8CB6EC9A-29E0-1147-8A46-A58CA4809190}" srcOrd="0" destOrd="4" presId="urn:microsoft.com/office/officeart/2005/8/layout/default"/>
    <dgm:cxn modelId="{04EDC045-8926-4A03-B415-22125A698F39}" srcId="{E771B3F4-50CD-4EE8-A572-93D2798B2FA6}" destId="{2EE280F4-081C-48F6-BA55-A5D3E5C4EAC2}" srcOrd="0" destOrd="0" parTransId="{336CB95F-1F94-4688-AEBE-AF67B6C378EB}" sibTransId="{C3F045F1-C2CA-4B54-850E-0132C4CFB610}"/>
    <dgm:cxn modelId="{87AAF254-53C8-344F-89FD-1C5D627893B8}" type="presOf" srcId="{8EA0CAAC-20EB-4A18-BE4E-8C16590BF561}" destId="{8CB6EC9A-29E0-1147-8A46-A58CA4809190}" srcOrd="0" destOrd="2" presId="urn:microsoft.com/office/officeart/2005/8/layout/default"/>
    <dgm:cxn modelId="{DA5856A3-4244-1244-8B5B-B1B85AF051E2}" type="presOf" srcId="{19CEBE57-47C9-427E-AE3E-6AA73EA7521E}" destId="{8CB6EC9A-29E0-1147-8A46-A58CA4809190}" srcOrd="0" destOrd="1" presId="urn:microsoft.com/office/officeart/2005/8/layout/default"/>
    <dgm:cxn modelId="{2BE951AC-29A5-4D7B-A7FD-5085B5A62F1F}" srcId="{2EE280F4-081C-48F6-BA55-A5D3E5C4EAC2}" destId="{295CAD99-A41C-4A0E-A271-F61BE04C62B4}" srcOrd="3" destOrd="0" parTransId="{D1FC68D1-0F94-4B11-A366-AD10D4BB57CD}" sibTransId="{2DE6ADA0-223C-4180-9D0D-5B6974DDD1B4}"/>
    <dgm:cxn modelId="{2F98CDED-7AE8-4CFE-894F-2F1FDD003C80}" srcId="{2EE280F4-081C-48F6-BA55-A5D3E5C4EAC2}" destId="{97E0D355-6B94-4EB0-B01F-13238105B096}" srcOrd="2" destOrd="0" parTransId="{C4459486-4739-4C39-BF61-282A5D65AE92}" sibTransId="{06CA5535-C86A-43EA-B105-3A19144ED58B}"/>
    <dgm:cxn modelId="{55C7A05F-0969-BA4D-A677-E819619FBA13}" type="presParOf" srcId="{FEDEA1B2-A5EE-EC4E-A00B-F35D149157C4}" destId="{8CB6EC9A-29E0-1147-8A46-A58CA4809190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30767-AE6E-0740-9324-FA3A8B817C6E}">
      <dsp:nvSpPr>
        <dsp:cNvPr id="0" name=""/>
        <dsp:cNvSpPr/>
      </dsp:nvSpPr>
      <dsp:spPr>
        <a:xfrm>
          <a:off x="0" y="0"/>
          <a:ext cx="6583680" cy="941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Smartwatches continuously collect human movement data using sensors.</a:t>
          </a:r>
        </a:p>
      </dsp:txBody>
      <dsp:txXfrm>
        <a:off x="27587" y="27587"/>
        <a:ext cx="5487712" cy="886720"/>
      </dsp:txXfrm>
    </dsp:sp>
    <dsp:sp modelId="{9C5BEC8D-109E-924C-B4B4-73CF46A2B24D}">
      <dsp:nvSpPr>
        <dsp:cNvPr id="0" name=""/>
        <dsp:cNvSpPr/>
      </dsp:nvSpPr>
      <dsp:spPr>
        <a:xfrm>
          <a:off x="551383" y="1113148"/>
          <a:ext cx="6583680" cy="941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This data is usually used only for activity tracking.</a:t>
          </a:r>
        </a:p>
      </dsp:txBody>
      <dsp:txXfrm>
        <a:off x="578970" y="1140735"/>
        <a:ext cx="5364891" cy="886720"/>
      </dsp:txXfrm>
    </dsp:sp>
    <dsp:sp modelId="{95E26694-0EB7-4F44-B7AB-EE7FFDCA9EAE}">
      <dsp:nvSpPr>
        <dsp:cNvPr id="0" name=""/>
        <dsp:cNvSpPr/>
      </dsp:nvSpPr>
      <dsp:spPr>
        <a:xfrm>
          <a:off x="1094536" y="2226296"/>
          <a:ext cx="6583680" cy="941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Our project explores how smartwatch motion data can be reproduced physically.</a:t>
          </a:r>
        </a:p>
      </dsp:txBody>
      <dsp:txXfrm>
        <a:off x="1122123" y="2253883"/>
        <a:ext cx="5373120" cy="886720"/>
      </dsp:txXfrm>
    </dsp:sp>
    <dsp:sp modelId="{AE6D7295-D651-FE41-BFDC-F0B989B0D9A4}">
      <dsp:nvSpPr>
        <dsp:cNvPr id="0" name=""/>
        <dsp:cNvSpPr/>
      </dsp:nvSpPr>
      <dsp:spPr>
        <a:xfrm>
          <a:off x="1645920" y="3339444"/>
          <a:ext cx="6583680" cy="9418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 capture motion from a Bangle.js smartwatch and convert it into movement instructions for a 3D printer.</a:t>
          </a:r>
        </a:p>
      </dsp:txBody>
      <dsp:txXfrm>
        <a:off x="1673507" y="3367031"/>
        <a:ext cx="5364891" cy="886720"/>
      </dsp:txXfrm>
    </dsp:sp>
    <dsp:sp modelId="{471C4723-1A85-0846-888E-F3C69F4CC878}">
      <dsp:nvSpPr>
        <dsp:cNvPr id="0" name=""/>
        <dsp:cNvSpPr/>
      </dsp:nvSpPr>
      <dsp:spPr>
        <a:xfrm>
          <a:off x="5971448" y="721405"/>
          <a:ext cx="612231" cy="6122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109200" y="721405"/>
        <a:ext cx="336727" cy="460704"/>
      </dsp:txXfrm>
    </dsp:sp>
    <dsp:sp modelId="{58A42216-20CD-3A4E-A634-1BC15DB79FFE}">
      <dsp:nvSpPr>
        <dsp:cNvPr id="0" name=""/>
        <dsp:cNvSpPr/>
      </dsp:nvSpPr>
      <dsp:spPr>
        <a:xfrm>
          <a:off x="6522831" y="1834553"/>
          <a:ext cx="612231" cy="6122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60583" y="1834553"/>
        <a:ext cx="336727" cy="460704"/>
      </dsp:txXfrm>
    </dsp:sp>
    <dsp:sp modelId="{04F294D3-3616-9348-9DDC-5C59ACD1D7D2}">
      <dsp:nvSpPr>
        <dsp:cNvPr id="0" name=""/>
        <dsp:cNvSpPr/>
      </dsp:nvSpPr>
      <dsp:spPr>
        <a:xfrm>
          <a:off x="7065985" y="2947701"/>
          <a:ext cx="612231" cy="612231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03737" y="2947701"/>
        <a:ext cx="336727" cy="46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B6EC9A-29E0-1147-8A46-A58CA4809190}">
      <dsp:nvSpPr>
        <dsp:cNvPr id="0" name=""/>
        <dsp:cNvSpPr/>
      </dsp:nvSpPr>
      <dsp:spPr>
        <a:xfrm>
          <a:off x="0" y="856605"/>
          <a:ext cx="4040188" cy="24241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Components:</a:t>
          </a:r>
          <a:endParaRPr lang="en-US" sz="31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Bangle.js 2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Web Bluetooth API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JavaScript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Ultimaker 2+</a:t>
          </a:r>
        </a:p>
      </dsp:txBody>
      <dsp:txXfrm>
        <a:off x="0" y="856605"/>
        <a:ext cx="4040188" cy="2424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fld id="{A46C9AB4-6A6E-44E6-914D-00985D639F88}" type="datetimeFigureOut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 dirty="0"/>
              <a:t>Textmasterformate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68397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Good morning everyone.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Today, we are presenting our project titled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Automated Smartwatch Activity Replication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This project combines wearable technology, Bluetooth communication, web applications, 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and 2D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printing to reproduce human movements captured by a smartwatch.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 goal is to record motion data from 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Bangle.js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smartwatch, process it in a web application, and ultimately replicate the movement using a 3D printer.</a:t>
            </a:r>
            <a:endParaRPr lang="en-US" sz="1200" b="0" i="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848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Smartwatches continuously collect movement information using built-in sensors such as accelerometers.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Normally, this data is used for activity monitoring, fitness tracking, or health applications.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our project, we explore a different idea: converting smartwatch movement data into physical movements that can later be reproduced by a machine.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use a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Bangle.js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smartwatch to capture wrist movements and transform them into instructions for a 3D printer.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986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main objective of our project is to build a complete pipeline from human movement to machine replication.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First, we record sensor time-series data from the smartwatch.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Next, we process the motion data and transfer it using Bluetooth Low Energy.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Then, we convert the movement into G-code, which is the language understood by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Ultimaker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2+ printer.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Finally, the printer will reproduce the recorded movement physically.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1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This slide shows the overall workflow of our system.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Bangle.js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smartwatch captures accelerometer data from wrist movements.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data is transmitted to a web application using Bluetooth Low Energy.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web application processes the movement and generates G-code instructions.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These instructions are then sent to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Ultimaker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2+ printer to replicate the motion.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 this way, we connect human activity with physical machine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8200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For the midterm phase, we have completed several important tasks.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successfully connected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Bangle.js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watch with Google Chrome using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Espruino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environment.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uploaded our motion sender program to the smartwatch and enabled recording through a button press.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accelerometer data is now transmitted through Bluetooth to the web application.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can start recording, draw movements by tilting the hand, and stop the recording successfully.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At this stage, the smartwatch and communication components are fully operational.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464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To conclude, we have successfully implemented the smartwatch data collection and communication system.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are able to record human wrist movements and visualize them through our web application.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The next step is to generate G-code files and test them on the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Ultimaker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2+ printer.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We also plan to improve movement accuracy and add controlled noise simulation for more realistic activity replication.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 final goal is to transform human motion into reproducible physical actions using wearable and ubiquitous computing technologies.</a:t>
            </a:r>
            <a:br>
              <a:rPr lang="en-US" dirty="0"/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 you for your attention. We would be happy to answer any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0B9100-115E-4C6C-9865-936571606760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9738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BE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DBB60F8-2787-4813-937F-27C3177C95D0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80B72F-20EB-4426-B0B2-0AC12443171B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8121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E: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7CC98DB-5868-4AD7-925E-1390C537A547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1B29D50-9C7A-4003-A615-B35DB4D87802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E138FA-36DE-4A00-BD78-6588CA0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57606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>
                <a:solidFill>
                  <a:srgbClr val="0303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280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E: 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AB10F91-3534-416C-84EF-BBEAB9C3CA25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C33547D-8084-4267-949C-C36D06188B1E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087187B-D5A8-4DB2-9287-7AA8FA4647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3C09C30F-EE75-423F-A4B5-EAC58EEAFC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6499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E: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268760"/>
            <a:ext cx="8229600" cy="4857403"/>
          </a:xfrm>
        </p:spPr>
        <p:txBody>
          <a:bodyPr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1B1EA5-489E-4E6C-B3EC-DAAEB91CA654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0C1EC9D-98B2-495A-A489-C9146225390B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169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E: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268760"/>
            <a:ext cx="4038600" cy="48574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268760"/>
            <a:ext cx="4038600" cy="48574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B830D248-6E43-4010-8EA7-1233F81BBB28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649F20E-9235-47C4-99CB-7C32907D5220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35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BE: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277070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rgbClr val="0303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1988840"/>
            <a:ext cx="4040188" cy="413732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268760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>
                <a:solidFill>
                  <a:srgbClr val="03038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1988840"/>
            <a:ext cx="4041775" cy="413732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65510-5DBB-4B16-BDE4-38F97D49F741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3E18027-E601-4B09-9372-C280498AF58D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790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MBE: 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000" b="1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412776"/>
            <a:ext cx="5486400" cy="331479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A2DBAE4-1230-47CA-B3AB-F42C59FC131A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4D8EB0D-60E5-428E-905A-082D3095FEE3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186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817688"/>
            <a:ext cx="8229600" cy="4308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fld id="{2380C72C-D0F1-4591-A411-0ECA531BEC82}" type="datetime1">
              <a:rPr lang="de-DE" smtClean="0"/>
              <a:pPr>
                <a:defRPr/>
              </a:pPr>
              <a:t>25.06.26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+mn-cs"/>
              </a:defRPr>
            </a:lvl1pPr>
          </a:lstStyle>
          <a:p>
            <a:pPr>
              <a:defRPr/>
            </a:pPr>
            <a:fld id="{932D9986-4742-4F2F-8B6D-DCF690074501}" type="slidenum">
              <a:rPr lang="de-DE" smtClean="0"/>
              <a:pPr>
                <a:defRPr/>
              </a:pPr>
              <a:t>‹#›</a:t>
            </a:fld>
            <a:endParaRPr lang="de-DE" dirty="0"/>
          </a:p>
        </p:txBody>
      </p:sp>
      <p:sp>
        <p:nvSpPr>
          <p:cNvPr id="1030" name="Rechteck 6"/>
          <p:cNvSpPr>
            <a:spLocks noChangeArrowheads="1"/>
          </p:cNvSpPr>
          <p:nvPr userDrawn="1"/>
        </p:nvSpPr>
        <p:spPr bwMode="auto">
          <a:xfrm>
            <a:off x="0" y="6229350"/>
            <a:ext cx="9144000" cy="628650"/>
          </a:xfrm>
          <a:prstGeom prst="rect">
            <a:avLst/>
          </a:prstGeom>
          <a:solidFill>
            <a:srgbClr val="030385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endParaRPr lang="de-DE" altLang="de-DE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0" y="984250"/>
            <a:ext cx="9144000" cy="1588"/>
          </a:xfrm>
          <a:prstGeom prst="line">
            <a:avLst/>
          </a:prstGeom>
          <a:ln w="38100" cap="flat" cmpd="sng" algn="ctr">
            <a:solidFill>
              <a:srgbClr val="03038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Bild 15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7380312" y="231292"/>
            <a:ext cx="1302509" cy="519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7E263F8-DF8A-4249-915F-BADDF9CC89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" y="134458"/>
            <a:ext cx="1375197" cy="710603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F66672-8116-44CB-9E52-6B0AC72FB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7234"/>
            <a:ext cx="8229600" cy="523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827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7" r:id="rId2"/>
    <p:sldLayoutId id="2147484178" r:id="rId3"/>
    <p:sldLayoutId id="2147484176" r:id="rId4"/>
    <p:sldLayoutId id="2147484179" r:id="rId5"/>
    <p:sldLayoutId id="2147484180" r:id="rId6"/>
    <p:sldLayoutId id="2147484181" r:id="rId7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rgbClr val="030385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liss 2 Regular" pitchFamily="50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>
          <a:xfrm>
            <a:off x="685800" y="16288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Automated Smartwatch Activity Replication</a:t>
            </a:r>
            <a:endParaRPr lang="de-DE" sz="2400" dirty="0"/>
          </a:p>
        </p:txBody>
      </p:sp>
      <p:sp>
        <p:nvSpPr>
          <p:cNvPr id="5" name="Untertitel 4"/>
          <p:cNvSpPr>
            <a:spLocks noGrp="1"/>
          </p:cNvSpPr>
          <p:nvPr>
            <p:ph type="subTitle" idx="1"/>
          </p:nvPr>
        </p:nvSpPr>
        <p:spPr>
          <a:xfrm>
            <a:off x="1115616" y="3429000"/>
            <a:ext cx="6768752" cy="266429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Supervisor:</a:t>
            </a:r>
            <a:r>
              <a:rPr lang="en-US" dirty="0">
                <a:solidFill>
                  <a:schemeClr val="tx1"/>
                </a:solidFill>
              </a:rPr>
              <a:t> Kristof Van </a:t>
            </a:r>
            <a:r>
              <a:rPr lang="en-US" dirty="0" err="1">
                <a:solidFill>
                  <a:schemeClr val="tx1"/>
                </a:solidFill>
              </a:rPr>
              <a:t>Laerhoven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Team Members: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Jaloliddin</a:t>
            </a:r>
            <a:r>
              <a:rPr lang="en-US" dirty="0">
                <a:solidFill>
                  <a:schemeClr val="tx1"/>
                </a:solidFill>
              </a:rPr>
              <a:t> Abdullaev</a:t>
            </a:r>
          </a:p>
          <a:p>
            <a:r>
              <a:rPr lang="en-US" dirty="0">
                <a:solidFill>
                  <a:schemeClr val="tx1"/>
                </a:solidFill>
              </a:rPr>
              <a:t>Amina Khan</a:t>
            </a:r>
          </a:p>
          <a:p>
            <a:r>
              <a:rPr lang="en-US" dirty="0">
                <a:solidFill>
                  <a:schemeClr val="tx1"/>
                </a:solidFill>
              </a:rPr>
              <a:t>Sana Rafique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Ubiquitous Systems Lab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9E30FF-526E-9DB0-EE07-82C6039B3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238822" cy="7863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F9FC2A-58A2-99F9-19B8-D5E5BCB9E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0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67269E6-8BF3-45D4-BD29-E35A3737D0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553200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0C1EC9D-98B2-495A-A489-C9146225390B}" type="slidenum">
              <a:rPr lang="de-DE" smtClean="0"/>
              <a:pPr>
                <a:spcAft>
                  <a:spcPts val="600"/>
                </a:spcAft>
                <a:defRPr/>
              </a:pPr>
              <a:t>2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9441677-464B-4BDC-BE28-81803353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57606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0" dirty="0"/>
              <a:t>Introduction</a:t>
            </a:r>
            <a:endParaRPr lang="de-DE" b="1"/>
          </a:p>
        </p:txBody>
      </p:sp>
      <p:graphicFrame>
        <p:nvGraphicFramePr>
          <p:cNvPr id="7" name="Inhaltsplatzhalter 4">
            <a:extLst>
              <a:ext uri="{FF2B5EF4-FFF2-40B4-BE49-F238E27FC236}">
                <a16:creationId xmlns:a16="http://schemas.microsoft.com/office/drawing/2014/main" id="{4BCB824C-4568-3BEE-3276-56748671C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626200"/>
              </p:ext>
            </p:extLst>
          </p:nvPr>
        </p:nvGraphicFramePr>
        <p:xfrm>
          <a:off x="457200" y="1844824"/>
          <a:ext cx="8229600" cy="4281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FE46EB9-4271-54B0-E1E6-43C49E0346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0312" y="128062"/>
            <a:ext cx="1674646" cy="70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38ADE1-9B57-D572-271E-B4454615BA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728" y="81833"/>
            <a:ext cx="2238822" cy="78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96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AEA967-8743-26D1-798F-E044B60E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Objective</a:t>
            </a:r>
          </a:p>
          <a:p>
            <a:r>
              <a:rPr lang="en-US" dirty="0"/>
              <a:t>The goal of this project is to:</a:t>
            </a:r>
          </a:p>
          <a:p>
            <a:r>
              <a:rPr lang="en-US" dirty="0"/>
              <a:t>Record smartwatch sensor time-series data</a:t>
            </a:r>
          </a:p>
          <a:p>
            <a:r>
              <a:rPr lang="en-US" dirty="0"/>
              <a:t>Process human motion information</a:t>
            </a:r>
          </a:p>
          <a:p>
            <a:r>
              <a:rPr lang="en-US" dirty="0"/>
              <a:t>Convert motion data into G-code</a:t>
            </a:r>
          </a:p>
          <a:p>
            <a:r>
              <a:rPr lang="en-US" dirty="0"/>
              <a:t>Replicate the movement using a 3D printer</a:t>
            </a:r>
          </a:p>
          <a:p>
            <a:r>
              <a:rPr lang="en-US" b="1" dirty="0"/>
              <a:t>Expected Output:</a:t>
            </a:r>
            <a:endParaRPr lang="en-US" dirty="0"/>
          </a:p>
          <a:p>
            <a:r>
              <a:rPr lang="en-US" dirty="0"/>
              <a:t>Human movement → Digital data → Physical replication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8B359A-B7FA-AA86-EB3E-AC77DCA95C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1B29D50-9C7A-4003-A615-B35DB4D87802}" type="slidenum">
              <a:rPr lang="de-DE" smtClean="0"/>
              <a:pPr>
                <a:defRPr/>
              </a:pPr>
              <a:t>3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25BC23-BA73-CD8A-580C-F99666E1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Project Objective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4D203-7925-8B6E-17F3-1C59262E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8184"/>
            <a:ext cx="2238822" cy="786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95D19-A52A-C225-2731-1AB311EF6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0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32CF94-7F0E-183B-C321-D6B231118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77070"/>
            <a:ext cx="4040188" cy="639762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de-DE" b="1" kern="1200">
                <a:latin typeface="Calibri" panose="020F0502020204030204" pitchFamily="34" charset="0"/>
                <a:ea typeface="+mn-ea"/>
                <a:cs typeface="+mn-cs"/>
              </a:rPr>
              <a:t>System Architecture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EA850-06C8-D4E4-BD11-666EBAA0C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268760"/>
            <a:ext cx="4041775" cy="639762"/>
          </a:xfrm>
        </p:spPr>
        <p:txBody>
          <a:bodyPr/>
          <a:lstStyle/>
          <a:p>
            <a:pPr algn="ctr"/>
            <a:r>
              <a:rPr lang="de-DE" dirty="0"/>
              <a:t>System Workflow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806A08-7EAE-106E-3A75-A8E32693F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60032" y="1988840"/>
            <a:ext cx="3826768" cy="413732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90000"/>
              </a:lnSpc>
              <a:buFont typeface="Arial" charset="0"/>
              <a:buNone/>
            </a:pPr>
            <a:endParaRPr lang="de-DE" sz="2000" dirty="0"/>
          </a:p>
          <a:p>
            <a:pPr marL="400050" lvl="1" indent="0">
              <a:lnSpc>
                <a:spcPct val="90000"/>
              </a:lnSpc>
              <a:buFont typeface="Arial" charset="0"/>
              <a:buNone/>
            </a:pPr>
            <a:r>
              <a:rPr lang="de-DE" dirty="0" err="1"/>
              <a:t>Bangle.js</a:t>
            </a:r>
            <a:r>
              <a:rPr lang="de-DE" dirty="0"/>
              <a:t> Smartwatch</a:t>
            </a:r>
            <a:br>
              <a:rPr lang="de-DE" dirty="0"/>
            </a:br>
            <a:r>
              <a:rPr lang="de-DE" dirty="0"/>
              <a:t>               ↓</a:t>
            </a:r>
            <a:br>
              <a:rPr lang="de-DE" dirty="0"/>
            </a:br>
            <a:r>
              <a:rPr lang="de-DE" dirty="0" err="1"/>
              <a:t>Accelerometer</a:t>
            </a:r>
            <a:r>
              <a:rPr lang="de-DE" dirty="0"/>
              <a:t> Data</a:t>
            </a:r>
            <a:br>
              <a:rPr lang="de-DE" dirty="0"/>
            </a:br>
            <a:r>
              <a:rPr lang="de-DE" dirty="0"/>
              <a:t>               ↓</a:t>
            </a:r>
            <a:br>
              <a:rPr lang="de-DE" dirty="0"/>
            </a:br>
            <a:r>
              <a:rPr lang="de-DE" dirty="0"/>
              <a:t>Bluetooth Low Energy</a:t>
            </a:r>
            <a:br>
              <a:rPr lang="de-DE" dirty="0"/>
            </a:br>
            <a:r>
              <a:rPr lang="de-DE" dirty="0"/>
              <a:t>               ↓</a:t>
            </a:r>
            <a:br>
              <a:rPr lang="de-DE" dirty="0"/>
            </a:br>
            <a:r>
              <a:rPr lang="de-DE" dirty="0"/>
              <a:t>  Web </a:t>
            </a:r>
            <a:r>
              <a:rPr lang="de-DE" dirty="0" err="1"/>
              <a:t>Application</a:t>
            </a:r>
            <a:br>
              <a:rPr lang="de-DE" dirty="0"/>
            </a:br>
            <a:r>
              <a:rPr lang="de-DE" dirty="0"/>
              <a:t>               ↓</a:t>
            </a:r>
            <a:br>
              <a:rPr lang="de-DE" dirty="0"/>
            </a:br>
            <a:r>
              <a:rPr lang="de-DE" dirty="0"/>
              <a:t>  G-code Generation</a:t>
            </a:r>
            <a:br>
              <a:rPr lang="de-DE" dirty="0"/>
            </a:br>
            <a:r>
              <a:rPr lang="de-DE" dirty="0"/>
              <a:t>               ↓</a:t>
            </a:r>
            <a:br>
              <a:rPr lang="de-DE" dirty="0"/>
            </a:br>
            <a:r>
              <a:rPr lang="de-DE" dirty="0"/>
              <a:t> </a:t>
            </a:r>
            <a:r>
              <a:rPr lang="de-DE" dirty="0" err="1"/>
              <a:t>Ultimaker</a:t>
            </a:r>
            <a:r>
              <a:rPr lang="de-DE" dirty="0"/>
              <a:t> 2+ Printer</a:t>
            </a:r>
          </a:p>
          <a:p>
            <a:pPr>
              <a:lnSpc>
                <a:spcPct val="90000"/>
              </a:lnSpc>
            </a:pPr>
            <a:endParaRPr lang="de-DE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19035-D3AA-ED8B-E178-61975E72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1B29D50-9C7A-4003-A615-B35DB4D87802}" type="slidenum">
              <a:rPr lang="de-DE" smtClean="0"/>
              <a:pPr>
                <a:spcAft>
                  <a:spcPts val="600"/>
                </a:spcAft>
                <a:defRPr/>
              </a:pPr>
              <a:t>4</a:t>
            </a:fld>
            <a:endParaRPr lang="de-DE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4657E373-B0B6-5A7A-A1A9-056D5FB6D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8076641"/>
              </p:ext>
            </p:extLst>
          </p:nvPr>
        </p:nvGraphicFramePr>
        <p:xfrm>
          <a:off x="457200" y="1988840"/>
          <a:ext cx="4040188" cy="4137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F94F3E5-E469-9DB4-09EB-400F807B9FB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862" y="61507"/>
            <a:ext cx="2238822" cy="786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67B2B5-03F6-39FE-B931-1D7CB26F89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9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37DE0-C992-8C3B-E858-AC6601C9B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Completed Work</a:t>
            </a:r>
          </a:p>
          <a:p>
            <a:r>
              <a:rPr lang="en-US" dirty="0" err="1"/>
              <a:t>Bangle.js</a:t>
            </a:r>
            <a:r>
              <a:rPr lang="en-US" dirty="0"/>
              <a:t> connected with Chrome</a:t>
            </a:r>
          </a:p>
          <a:p>
            <a:r>
              <a:rPr lang="en-US" dirty="0"/>
              <a:t>Motion sender code uploaded</a:t>
            </a:r>
          </a:p>
          <a:p>
            <a:r>
              <a:rPr lang="en-US" dirty="0"/>
              <a:t>Accelerometer data captured</a:t>
            </a:r>
          </a:p>
          <a:p>
            <a:r>
              <a:rPr lang="en-US" dirty="0"/>
              <a:t>Bluetooth communication implemented</a:t>
            </a:r>
          </a:p>
          <a:p>
            <a:r>
              <a:rPr lang="en-US" dirty="0"/>
              <a:t>Recording started by watch button</a:t>
            </a:r>
          </a:p>
          <a:p>
            <a:r>
              <a:rPr lang="en-US" dirty="0"/>
              <a:t>Web application connected</a:t>
            </a:r>
          </a:p>
          <a:p>
            <a:r>
              <a:rPr lang="en-US" dirty="0"/>
              <a:t>Motion drawing recorded</a:t>
            </a:r>
          </a:p>
          <a:p>
            <a:r>
              <a:rPr lang="en-US" dirty="0"/>
              <a:t>Stop recording function completed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0B667-7912-5269-671F-114B714106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1B29D50-9C7A-4003-A615-B35DB4D87802}" type="slidenum">
              <a:rPr lang="de-DE" smtClean="0"/>
              <a:pPr>
                <a:defRPr/>
              </a:pPr>
              <a:t>5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04F20A-0D83-FC12-B1D8-AE01A480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Implementation Progress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AFB42-DFC5-17D9-6930-7FE66ACAC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8184"/>
            <a:ext cx="2238822" cy="786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C9E589-7BCF-C45A-EDDF-7EC19AA52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3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7F9ECE-CB93-CFFD-892E-9A54E726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Successfully developed smartwatch-based motion recording system</a:t>
            </a:r>
          </a:p>
          <a:p>
            <a:r>
              <a:rPr lang="en-US" dirty="0" err="1"/>
              <a:t>Bangle.js</a:t>
            </a:r>
            <a:r>
              <a:rPr lang="en-US" dirty="0"/>
              <a:t> captures human wrist movement using accelerometer data</a:t>
            </a:r>
          </a:p>
          <a:p>
            <a:r>
              <a:rPr lang="en-US" dirty="0"/>
              <a:t>Motion data is transferred through Bluetooth Low Energy</a:t>
            </a:r>
          </a:p>
          <a:p>
            <a:r>
              <a:rPr lang="en-US" dirty="0"/>
              <a:t>Web application converts movement into a digital path</a:t>
            </a:r>
          </a:p>
          <a:p>
            <a:pPr marL="0" indent="0">
              <a:buNone/>
            </a:pPr>
            <a:r>
              <a:rPr lang="en-US" b="1" dirty="0"/>
              <a:t>Future Work</a:t>
            </a:r>
          </a:p>
          <a:p>
            <a:r>
              <a:rPr lang="en-US" dirty="0"/>
              <a:t>Generate and export G-code file</a:t>
            </a:r>
          </a:p>
          <a:p>
            <a:r>
              <a:rPr lang="en-US" dirty="0"/>
              <a:t>Connect with </a:t>
            </a:r>
            <a:r>
              <a:rPr lang="en-US" dirty="0" err="1"/>
              <a:t>Ultimaker</a:t>
            </a:r>
            <a:r>
              <a:rPr lang="en-US" dirty="0"/>
              <a:t> 2+ 3D printer</a:t>
            </a:r>
          </a:p>
          <a:p>
            <a:r>
              <a:rPr lang="en-US" dirty="0"/>
              <a:t>Physically replicate recorded movements</a:t>
            </a:r>
          </a:p>
          <a:p>
            <a:r>
              <a:rPr lang="en-US" dirty="0"/>
              <a:t>Improve accuracy and motion control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BF1920-6580-B4C9-08E9-592AE621BD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A1B29D50-9C7A-4003-A615-B35DB4D87802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ED68DD-9971-3A51-DD4A-1BBEB6B5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Conclusion &amp; Future Work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D833A-77C2-DE4B-5919-1741DA5BB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08184"/>
            <a:ext cx="2238822" cy="786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A698CA-E78B-2E80-7822-53F1BE070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5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752B7E-D513-433E-127E-0C18E4569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" r="2113"/>
          <a:stretch>
            <a:fillRect/>
          </a:stretch>
        </p:blipFill>
        <p:spPr bwMode="auto">
          <a:xfrm>
            <a:off x="457200" y="1268760"/>
            <a:ext cx="8229600" cy="4857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6C691C-D086-477E-3716-E639DCFA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1B29D50-9C7A-4003-A615-B35DB4D87802}" type="slidenum">
              <a:rPr lang="de-DE" smtClean="0"/>
              <a:pPr>
                <a:spcAft>
                  <a:spcPts val="600"/>
                </a:spcAft>
                <a:defRPr/>
              </a:pPr>
              <a:t>7</a:t>
            </a:fld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1C1D47-B87A-CB7F-5B9B-EE316654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6632"/>
            <a:ext cx="2238822" cy="7863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B562C8-B113-ADEA-8B0C-71F1C8E28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42" y="155493"/>
            <a:ext cx="1674646" cy="70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44367"/>
      </p:ext>
    </p:extLst>
  </p:cSld>
  <p:clrMapOvr>
    <a:masterClrMapping/>
  </p:clrMapOvr>
</p:sld>
</file>

<file path=ppt/theme/theme1.xml><?xml version="1.0" encoding="utf-8"?>
<a:theme xmlns:a="http://schemas.openxmlformats.org/drawingml/2006/main" name="Uni Siegen - MB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iss 2 Regular">
      <a:majorFont>
        <a:latin typeface="Bliss 2 Regular"/>
        <a:ea typeface=""/>
        <a:cs typeface=""/>
      </a:majorFont>
      <a:minorFont>
        <a:latin typeface="Bliss 2 Regular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lienvorlage.potx" id="{6F815CB9-7D29-455B-B5DF-7AB6BA6DD7F6}" vid="{4EB3928E-78CC-4593-8ADE-B6262CA3AD58}"/>
    </a:ext>
  </a:ext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 Siegen - MBE</Template>
  <TotalTime>230</TotalTime>
  <Words>796</Words>
  <Application>Microsoft Macintosh PowerPoint</Application>
  <PresentationFormat>On-screen Show (4:3)</PresentationFormat>
  <Paragraphs>72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Bliss 2 Regular</vt:lpstr>
      <vt:lpstr>Calibri</vt:lpstr>
      <vt:lpstr>Uni Siegen - MBE</vt:lpstr>
      <vt:lpstr>Automated Smartwatch Activity Replication</vt:lpstr>
      <vt:lpstr>Introduction</vt:lpstr>
      <vt:lpstr>Project Objective</vt:lpstr>
      <vt:lpstr>PowerPoint Presentation</vt:lpstr>
      <vt:lpstr>Implementation Progress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Khan, Amina</dc:creator>
  <cp:keywords>MBE, ETI, Fakultät IV, Uni Siegen</cp:keywords>
  <dc:description/>
  <cp:lastModifiedBy>Khan, Amina</cp:lastModifiedBy>
  <cp:revision>11</cp:revision>
  <dcterms:created xsi:type="dcterms:W3CDTF">2026-06-21T12:17:00Z</dcterms:created>
  <dcterms:modified xsi:type="dcterms:W3CDTF">2026-06-25T08:46:31Z</dcterms:modified>
</cp:coreProperties>
</file>